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828800"/>
            <a:ext cx="3271418" cy="205740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3F4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011680"/>
            <a:ext cx="2905658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000" b="1" i="0" u="none">
                <a:solidFill>
                  <a:srgbClr val="1D4ED8"/>
                </a:solidFill>
                <a:latin typeface="Calibri"/>
              </a:rPr>
              <a:t>65%</a:t>
            </a:r>
          </a:p>
          <a:p>
            <a:pPr algn="l">
              <a:spcAft>
                <a:spcPts val="600"/>
              </a:spcAft>
              <a:buNone/>
            </a:pPr>
            <a:r>
              <a:rPr sz="1600" b="0" i="0" u="none">
                <a:solidFill>
                  <a:srgbClr val="9CA3AF"/>
                </a:solidFill>
                <a:latin typeface="Calibri"/>
              </a:rPr>
              <a:t>Test Authoring Automation Automates CAPL, Python, and fault-injection scripts</a:t>
            </a:r>
          </a:p>
          <a:p>
            <a:pPr algn="l">
              <a:buNone/>
            </a:pPr>
            <a:r>
              <a:rPr sz="1210" b="1" i="0" u="none">
                <a:solidFill>
                  <a:srgbClr val="0D9488"/>
                </a:solidFill>
                <a:latin typeface="Calibri"/>
              </a:rPr>
              <a:t>▲ 3.5x SIL/HIL Coverage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60138" y="1828800"/>
            <a:ext cx="3271418" cy="205740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3F4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43018" y="2011680"/>
            <a:ext cx="2905658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000" b="1" i="0" u="none">
                <a:solidFill>
                  <a:srgbClr val="1D4ED8"/>
                </a:solidFill>
                <a:latin typeface="Calibri"/>
              </a:rPr>
              <a:t>50%</a:t>
            </a:r>
          </a:p>
          <a:p>
            <a:pPr algn="l">
              <a:spcAft>
                <a:spcPts val="600"/>
              </a:spcAft>
              <a:buNone/>
            </a:pPr>
            <a:r>
              <a:rPr sz="1600" b="0" i="0" u="none">
                <a:solidFill>
                  <a:srgbClr val="9CA3AF"/>
                </a:solidFill>
                <a:latin typeface="Calibri"/>
              </a:rPr>
              <a:t>Dyno Calibration Reduction Active-learning Bayesian MTPA/MTPV curve synthesis</a:t>
            </a:r>
          </a:p>
          <a:p>
            <a:pPr algn="l">
              <a:buNone/>
            </a:pPr>
            <a:r>
              <a:rPr sz="1210" b="1" i="0" u="none">
                <a:solidFill>
                  <a:srgbClr val="0D9488"/>
                </a:solidFill>
                <a:latin typeface="Calibri"/>
              </a:rPr>
              <a:t>▲ €450k+ Saved / Program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7316" y="1828800"/>
            <a:ext cx="3271418" cy="205740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3F4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0196" y="2011680"/>
            <a:ext cx="2905658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000" b="1" i="0" u="none">
                <a:solidFill>
                  <a:srgbClr val="1D4ED8"/>
                </a:solidFill>
                <a:latin typeface="Calibri"/>
              </a:rPr>
              <a:t>100%</a:t>
            </a:r>
          </a:p>
          <a:p>
            <a:pPr algn="l">
              <a:spcAft>
                <a:spcPts val="600"/>
              </a:spcAft>
              <a:buNone/>
            </a:pPr>
            <a:r>
              <a:rPr sz="1600" b="0" i="0" u="none">
                <a:solidFill>
                  <a:srgbClr val="9CA3AF"/>
                </a:solidFill>
                <a:latin typeface="Calibri"/>
              </a:rPr>
              <a:t>Zero Data Exposure 🔒 100% On-Prem / Air-Gapped No cloud egress; proprietary plant models stay sovereign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51960"/>
            <a:ext cx="10545775" cy="949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1" i="0" u="none">
                <a:solidFill>
                  <a:srgbClr val="1D4ED8"/>
                </a:solidFill>
                <a:latin typeface="Calibri"/>
              </a:rPr>
              <a:t>EXECUTIVE VISION · AUTOMOTIVE E-DRIVE SOFTWARE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buNone/>
            </a:pPr>
            <a:r>
              <a:rPr sz="1600" b="0" i="0" u="none">
                <a:solidFill>
                  <a:srgbClr val="F9FAFB"/>
                </a:solidFill>
                <a:latin typeface="Calibri"/>
              </a:rPr>
              <a:t>Eliminating redundant manual engineering across the ASPICE V-Cycle for PMSM &amp; Inverter control software—cutting time-to-market by 50% without compromising ASIL-D safety or exposing proprietary motor IP.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buNone/>
            </a:pPr>
            <a:r>
              <a:rPr sz="1600" b="0" i="0" u="none">
                <a:solidFill>
                  <a:srgbClr val="F9FAFB"/>
                </a:solidFill>
                <a:latin typeface="Calibri"/>
              </a:rPr>
              <a:t>
</a:t>
            </a:r>
            <a:r>
              <a:rPr sz="1600" b="0" i="0" u="none">
                <a:solidFill>
                  <a:srgbClr val="F9FAFB"/>
                </a:solidFill>
                <a:latin typeface="Calibri"/>
              </a:rPr>
              <a:t>Proprietary &amp; Confidential · E-Mobility Powertrain AI Solution</a:t>
            </a:r>
            <a:r>
              <a:rPr sz="1600" b="0" i="0" u="none">
                <a:solidFill>
                  <a:srgbClr val="F9FAFB"/>
                </a:solidFill>
                <a:latin typeface="Calibri"/>
              </a:rPr>
              <a:t>
</a:t>
            </a:r>
            <a:r>
              <a:rPr sz="1600" b="0" i="0" u="none">
                <a:solidFill>
                  <a:srgbClr val="F9FAFB"/>
                </a:solidFill>
                <a:latin typeface="Calibri"/>
              </a:rPr>
              <a:t>
</a:t>
            </a:r>
            <a:r>
              <a:rPr sz="1600" b="1" i="0" u="none">
                <a:solidFill>
                  <a:srgbClr val="1D4ED8"/>
                </a:solidFill>
                <a:latin typeface="Calibri"/>
              </a:rPr>
              <a:t>EXECUTIVE BRIEFING · SLIDE 1 OF 5</a:t>
            </a:r>
            <a:r>
              <a:rPr sz="1600" b="0" i="0" u="none">
                <a:solidFill>
                  <a:srgbClr val="F9FAFB"/>
                </a:solidFill>
                <a:latin typeface="Calibri"/>
              </a:rPr>
              <a:t>
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8640"/>
            <a:ext cx="1054577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None/>
            </a:pPr>
            <a:r>
              <a:rPr sz="3000" b="1" i="0" u="none">
                <a:solidFill>
                  <a:srgbClr val="F9FAFB"/>
                </a:solidFill>
                <a:latin typeface="Calibri"/>
              </a:rPr>
              <a:t>Accelerating Motor ECU Engineering
with Secure, Sovereign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645920"/>
            <a:ext cx="10545775" cy="12700"/>
          </a:xfrm>
          <a:prstGeom prst="rect">
            <a:avLst/>
          </a:prstGeom>
          <a:solidFill>
            <a:srgbClr val="3F4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97135" y="66294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None/>
            </a:pPr>
            <a:r>
              <a:rPr sz="1100" b="0" i="0" u="none">
                <a:solidFill>
                  <a:srgbClr val="9CA3A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828800"/>
            <a:ext cx="3271418" cy="457200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3F4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057400"/>
            <a:ext cx="2814218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000" b="1" i="0" u="none">
                <a:solidFill>
                  <a:srgbClr val="F9FAFB"/>
                </a:solidFill>
                <a:latin typeface="Calibri"/>
              </a:rPr>
              <a:t>1. Physics-Informed ML Surrogates</a:t>
            </a:r>
          </a:p>
          <a:p>
            <a:pPr algn="l">
              <a:spcAft>
                <a:spcPts val="400"/>
              </a:spcAft>
              <a:buNone/>
            </a:pPr>
            <a:r>
              <a:rPr sz="1600" b="0" i="0" u="none">
                <a:solidFill>
                  <a:srgbClr val="F9FAFB"/>
                </a:solidFill>
                <a:latin typeface="Calibri"/>
              </a:rPr>
              <a:t>📐</a:t>
            </a:r>
            <a:r>
              <a:rPr sz="1600" b="0" i="0" u="none">
                <a:solidFill>
                  <a:srgbClr val="F9FAFB"/>
                </a:solidFill>
                <a:latin typeface="Calibri"/>
              </a:rPr>
              <a:t>
</a:t>
            </a:r>
            <a:r>
              <a:rPr sz="1600" b="0" i="0" u="none">
                <a:solidFill>
                  <a:srgbClr val="F9FAFB"/>
                </a:solidFill>
                <a:latin typeface="Calibri"/>
              </a:rPr>
              <a:t>Replaces sluggish finite-element (FEA) and complex ODE solvers with microsecond neural surrogates for non-linear motor plant dynamics:</a:t>
            </a:r>
          </a:p>
          <a:p>
            <a:pPr algn="l">
              <a:spcAft>
                <a:spcPts val="200"/>
              </a:spcAft>
              <a:buChar char="•"/>
            </a:pPr>
            <a:r>
              <a:rPr sz="1600" b="0" i="0" u="none">
                <a:solidFill>
                  <a:srgbClr val="F9FAFB"/>
                </a:solidFill>
                <a:latin typeface="Calibri"/>
              </a:rPr>
              <a:t>Iron saturation, cross-coupling Ld/Lq mapping</a:t>
            </a:r>
          </a:p>
          <a:p>
            <a:pPr algn="l">
              <a:spcAft>
                <a:spcPts val="200"/>
              </a:spcAft>
              <a:buChar char="•"/>
            </a:pPr>
            <a:r>
              <a:rPr sz="1600" b="0" i="0" u="none">
                <a:solidFill>
                  <a:srgbClr val="F9FAFB"/>
                </a:solidFill>
                <a:latin typeface="Calibri"/>
              </a:rPr>
              <a:t>Inverter SiC switching losses &amp; thermal transients</a:t>
            </a:r>
          </a:p>
          <a:p>
            <a:pPr algn="l">
              <a:spcAft>
                <a:spcPts val="200"/>
              </a:spcAft>
              <a:buChar char="•"/>
            </a:pPr>
            <a:r>
              <a:rPr sz="1600" b="0" i="0" u="none">
                <a:solidFill>
                  <a:srgbClr val="F9FAFB"/>
                </a:solidFill>
                <a:latin typeface="Calibri"/>
              </a:rPr>
              <a:t>100x faster SIL/MIL closed-loop simulation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60138" y="1828800"/>
            <a:ext cx="3271418" cy="457200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3F4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88738" y="2057400"/>
            <a:ext cx="2814218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000" b="1" i="0" u="none">
                <a:solidFill>
                  <a:srgbClr val="F9FAFB"/>
                </a:solidFill>
                <a:latin typeface="Calibri"/>
              </a:rPr>
              <a:t>2. Domain-Tuned Semantic Agents</a:t>
            </a:r>
          </a:p>
          <a:p>
            <a:pPr algn="l">
              <a:spcAft>
                <a:spcPts val="400"/>
              </a:spcAft>
              <a:buNone/>
            </a:pPr>
            <a:r>
              <a:rPr sz="1600" b="0" i="0" u="none">
                <a:solidFill>
                  <a:srgbClr val="F9FAFB"/>
                </a:solidFill>
                <a:latin typeface="Calibri"/>
              </a:rPr>
              <a:t>🧠</a:t>
            </a:r>
            <a:r>
              <a:rPr sz="1600" b="0" i="0" u="none">
                <a:solidFill>
                  <a:srgbClr val="F9FAFB"/>
                </a:solidFill>
                <a:latin typeface="Calibri"/>
              </a:rPr>
              <a:t>
</a:t>
            </a:r>
            <a:r>
              <a:rPr sz="1600" b="0" i="0" u="none">
                <a:solidFill>
                  <a:srgbClr val="F9FAFB"/>
                </a:solidFill>
                <a:latin typeface="Calibri"/>
              </a:rPr>
              <a:t>Trained on automotive embedded standards, control protocols, and toolchain syntax rather than public internet chatter:</a:t>
            </a:r>
          </a:p>
          <a:p>
            <a:pPr algn="l">
              <a:spcAft>
                <a:spcPts val="200"/>
              </a:spcAft>
              <a:buChar char="•"/>
            </a:pPr>
            <a:r>
              <a:rPr sz="1600" b="0" i="0" u="none">
                <a:solidFill>
                  <a:srgbClr val="F9FAFB"/>
                </a:solidFill>
                <a:latin typeface="Calibri"/>
              </a:rPr>
              <a:t>Deep knowledge of AUTOSAR Classic (RTE/BSW/MCAL)</a:t>
            </a:r>
          </a:p>
          <a:p>
            <a:pPr algn="l">
              <a:spcAft>
                <a:spcPts val="200"/>
              </a:spcAft>
              <a:buChar char="•"/>
            </a:pPr>
            <a:r>
              <a:rPr sz="1600" b="0" i="0" u="none">
                <a:solidFill>
                  <a:srgbClr val="F9FAFB"/>
                </a:solidFill>
                <a:latin typeface="Calibri"/>
              </a:rPr>
              <a:t>Native understanding of A2L/ASAP2, CAN/XCP, and MDF4</a:t>
            </a:r>
          </a:p>
          <a:p>
            <a:pPr algn="l">
              <a:spcAft>
                <a:spcPts val="200"/>
              </a:spcAft>
              <a:buChar char="•"/>
            </a:pPr>
            <a:r>
              <a:rPr sz="1600" b="0" i="0" u="none">
                <a:solidFill>
                  <a:srgbClr val="F9FAFB"/>
                </a:solidFill>
                <a:latin typeface="Calibri"/>
              </a:rPr>
              <a:t>Automated ASPICE SWE.1-SWE.6 artifact synthesis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7316" y="1828800"/>
            <a:ext cx="3271418" cy="457200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3F4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5916" y="2057400"/>
            <a:ext cx="2814218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000" b="1" i="0" u="none">
                <a:solidFill>
                  <a:srgbClr val="F9FAFB"/>
                </a:solidFill>
                <a:latin typeface="Calibri"/>
              </a:rPr>
              <a:t>3. Deterministic Verification Gates</a:t>
            </a:r>
          </a:p>
          <a:p>
            <a:pPr algn="l">
              <a:spcAft>
                <a:spcPts val="400"/>
              </a:spcAft>
              <a:buNone/>
            </a:pPr>
            <a:r>
              <a:rPr sz="1600" b="0" i="0" u="none">
                <a:solidFill>
                  <a:srgbClr val="F9FAFB"/>
                </a:solidFill>
                <a:latin typeface="Calibri"/>
              </a:rPr>
              <a:t>🛡️</a:t>
            </a:r>
            <a:r>
              <a:rPr sz="1600" b="0" i="0" u="none">
                <a:solidFill>
                  <a:srgbClr val="F9FAFB"/>
                </a:solidFill>
                <a:latin typeface="Calibri"/>
              </a:rPr>
              <a:t>
</a:t>
            </a:r>
            <a:r>
              <a:rPr sz="1600" b="0" i="0" u="none">
                <a:solidFill>
                  <a:srgbClr val="F9FAFB"/>
                </a:solidFill>
                <a:latin typeface="Calibri"/>
              </a:rPr>
              <a:t>Zero hallucination tolerance: Every AI suggestion is strictly gated by deterministic compilers and formal verification tools:</a:t>
            </a:r>
          </a:p>
          <a:p>
            <a:pPr algn="l">
              <a:spcAft>
                <a:spcPts val="200"/>
              </a:spcAft>
              <a:buChar char="•"/>
            </a:pPr>
            <a:r>
              <a:rPr sz="1600" b="0" i="0" u="none">
                <a:solidFill>
                  <a:srgbClr val="F9FAFB"/>
                </a:solidFill>
                <a:latin typeface="Calibri"/>
              </a:rPr>
              <a:t>Automated MISRA-C:2012 / CERT C rule checkers</a:t>
            </a:r>
          </a:p>
          <a:p>
            <a:pPr algn="l">
              <a:spcAft>
                <a:spcPts val="200"/>
              </a:spcAft>
              <a:buChar char="•"/>
            </a:pPr>
            <a:r>
              <a:rPr sz="1600" b="0" i="0" u="none">
                <a:solidFill>
                  <a:srgbClr val="F9FAFB"/>
                </a:solidFill>
                <a:latin typeface="Calibri"/>
              </a:rPr>
              <a:t>SMT-based formal bounds checking (Polyspace/Astree)</a:t>
            </a:r>
          </a:p>
          <a:p>
            <a:pPr algn="l">
              <a:spcAft>
                <a:spcPts val="200"/>
              </a:spcAft>
              <a:buChar char="•"/>
            </a:pPr>
            <a:r>
              <a:rPr sz="1600" b="0" i="0" u="none">
                <a:solidFill>
                  <a:srgbClr val="F9FAFB"/>
                </a:solidFill>
                <a:latin typeface="Calibri"/>
              </a:rPr>
              <a:t>Human-in-the-loop sign-off for ASIL-D safety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8640"/>
            <a:ext cx="1054577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None/>
            </a:pPr>
            <a:r>
              <a:rPr sz="3000" b="1" i="0" u="none">
                <a:solidFill>
                  <a:srgbClr val="F9FAFB"/>
                </a:solidFill>
                <a:latin typeface="Calibri"/>
              </a:rPr>
              <a:t>What is AI in Deep Automotive Motor ECU Development?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10545775" cy="12700"/>
          </a:xfrm>
          <a:prstGeom prst="rect">
            <a:avLst/>
          </a:prstGeom>
          <a:solidFill>
            <a:srgbClr val="3F4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97135" y="66294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None/>
            </a:pPr>
            <a:r>
              <a:rPr sz="1100" b="0" i="0" u="none">
                <a:solidFill>
                  <a:srgbClr val="9CA3A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822960" y="1828800"/>
          <a:ext cx="10545774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0377"/>
                <a:gridCol w="3066256"/>
                <a:gridCol w="3779141"/>
              </a:tblGrid>
              <a:tr h="914400">
                <a:tc>
                  <a:txBody>
                    <a:bodyPr wrap="square" lIns="60000" rIns="60000" tIns="40000" bIns="40000"/>
                    <a:lstStyle/>
                    <a:p>
                      <a:pPr algn="l"/>
                      <a:r>
                        <a:rPr sz="1680" b="1" i="0">
                          <a:solidFill>
                            <a:srgbClr val="F9FAFB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>
                    <a:solidFill>
                      <a:srgbClr val="222A3B"/>
                    </a:solidFill>
                  </a:tcPr>
                </a:tc>
                <a:tc>
                  <a:txBody>
                    <a:bodyPr wrap="square" lIns="60000" rIns="60000" tIns="40000" bIns="40000"/>
                    <a:lstStyle/>
                    <a:p>
                      <a:pPr algn="l"/>
                      <a:r>
                        <a:rPr sz="1680" b="1" i="0">
                          <a:solidFill>
                            <a:srgbClr val="F9FAFB"/>
                          </a:solidFill>
                          <a:latin typeface="Calibri"/>
                        </a:rPr>
                        <a:t>Generic Consumer AI (ChatGPT / Public Cloud)</a:t>
                      </a:r>
                    </a:p>
                  </a:txBody>
                  <a:tcPr>
                    <a:solidFill>
                      <a:srgbClr val="222A3B"/>
                    </a:solidFill>
                  </a:tcPr>
                </a:tc>
                <a:tc>
                  <a:txBody>
                    <a:bodyPr wrap="square" lIns="60000" rIns="60000" tIns="40000" bIns="40000"/>
                    <a:lstStyle/>
                    <a:p>
                      <a:pPr algn="l"/>
                      <a:r>
                        <a:rPr sz="1680" b="1" i="0">
                          <a:solidFill>
                            <a:srgbClr val="F9FAFB"/>
                          </a:solidFill>
                          <a:latin typeface="Calibri"/>
                        </a:rPr>
                        <a:t>Our Automotive Motor ECU AI Platform</a:t>
                      </a:r>
                    </a:p>
                  </a:txBody>
                  <a:tcPr>
                    <a:solidFill>
                      <a:srgbClr val="222A3B"/>
                    </a:solidFill>
                  </a:tcPr>
                </a:tc>
              </a:tr>
              <a:tr h="914400">
                <a:tc>
                  <a:txBody>
                    <a:bodyPr wrap="square" lIns="60000" rIns="60000" tIns="40000" bIns="40000"/>
                    <a:lstStyle/>
                    <a:p>
                      <a:pPr algn="l"/>
                      <a:r>
                        <a:rPr sz="1600" b="0" i="0">
                          <a:solidFill>
                            <a:srgbClr val="F9FAFB"/>
                          </a:solidFill>
                          <a:latin typeface="Calibri"/>
                        </a:rPr>
                        <a:t>Data Confidentiality</a:t>
                      </a:r>
                    </a:p>
                  </a:txBody>
                  <a:tcPr/>
                </a:tc>
                <a:tc>
                  <a:txBody>
                    <a:bodyPr wrap="square" lIns="60000" rIns="60000" tIns="40000" bIns="40000"/>
                    <a:lstStyle/>
                    <a:p>
                      <a:pPr algn="l"/>
                      <a:r>
                        <a:rPr sz="1600" b="0" i="0">
                          <a:solidFill>
                            <a:srgbClr val="F9FAFB"/>
                          </a:solidFill>
                          <a:latin typeface="Calibri"/>
                        </a:rPr>
                        <a:t>High Risk</a:t>
                      </a:r>
                      <a:r>
                        <a:rPr sz="1600" b="0" i="0">
                          <a:solidFill>
                            <a:srgbClr val="F9FAFB"/>
                          </a:solidFill>
                          <a:latin typeface="Calibri"/>
                        </a:rPr>
                        <a:t> Egresses to public cloud; risks model retraining</a:t>
                      </a:r>
                    </a:p>
                  </a:txBody>
                  <a:tcPr/>
                </a:tc>
                <a:tc>
                  <a:txBody>
                    <a:bodyPr wrap="square" lIns="60000" rIns="60000" tIns="40000" bIns="40000"/>
                    <a:lstStyle/>
                    <a:p>
                      <a:pPr algn="r"/>
                      <a:r>
                        <a:rPr sz="1600" b="0" i="0">
                          <a:solidFill>
                            <a:srgbClr val="F9FAFB"/>
                          </a:solidFill>
                          <a:latin typeface="Calibri"/>
                        </a:rPr>
                        <a:t>100% Sovereign</a:t>
                      </a:r>
                      <a:r>
                        <a:rPr sz="1600" b="0" i="0">
                          <a:solidFill>
                            <a:srgbClr val="F9FAFB"/>
                          </a:solidFill>
                          <a:latin typeface="Calibri"/>
                        </a:rPr>
                        <a:t> Air-gapped / On-Premise; zero external transmission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 wrap="square" lIns="60000" rIns="60000" tIns="40000" bIns="40000"/>
                    <a:lstStyle/>
                    <a:p>
                      <a:pPr algn="l"/>
                      <a:r>
                        <a:rPr sz="1600" b="0" i="0">
                          <a:solidFill>
                            <a:srgbClr val="F9FAFB"/>
                          </a:solidFill>
                          <a:latin typeface="Calibri"/>
                        </a:rPr>
                        <a:t>Automotive Semantics</a:t>
                      </a:r>
                    </a:p>
                  </a:txBody>
                  <a:tcPr/>
                </a:tc>
                <a:tc>
                  <a:txBody>
                    <a:bodyPr wrap="square" lIns="60000" rIns="60000" tIns="40000" bIns="40000"/>
                    <a:lstStyle/>
                    <a:p>
                      <a:pPr algn="l"/>
                      <a:r>
                        <a:rPr sz="1600" b="0" i="0">
                          <a:solidFill>
                            <a:srgbClr val="F9FAFB"/>
                          </a:solidFill>
                          <a:latin typeface="Calibri"/>
                        </a:rPr>
                        <a:t>Generic code; no awareness of FOC, SVPWM, or ARXML</a:t>
                      </a:r>
                    </a:p>
                  </a:txBody>
                  <a:tcPr/>
                </a:tc>
                <a:tc>
                  <a:txBody>
                    <a:bodyPr wrap="square" lIns="60000" rIns="60000" tIns="40000" bIns="40000"/>
                    <a:lstStyle/>
                    <a:p>
                      <a:pPr algn="l"/>
                      <a:r>
                        <a:rPr sz="1600" b="0" i="0">
                          <a:solidFill>
                            <a:srgbClr val="F9FAFB"/>
                          </a:solidFill>
                          <a:latin typeface="Calibri"/>
                        </a:rPr>
                        <a:t>Native understanding of dq-frame transformations, MTPA, and AUTOSAR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 wrap="square" lIns="60000" rIns="60000" tIns="40000" bIns="40000"/>
                    <a:lstStyle/>
                    <a:p>
                      <a:pPr algn="l"/>
                      <a:r>
                        <a:rPr sz="1600" b="0" i="0">
                          <a:solidFill>
                            <a:srgbClr val="F9FAFB"/>
                          </a:solidFill>
                          <a:latin typeface="Calibri"/>
                        </a:rPr>
                        <a:t>Safety &amp; Compliance</a:t>
                      </a:r>
                    </a:p>
                  </a:txBody>
                  <a:tcPr/>
                </a:tc>
                <a:tc>
                  <a:txBody>
                    <a:bodyPr wrap="square" lIns="60000" rIns="60000" tIns="40000" bIns="40000"/>
                    <a:lstStyle/>
                    <a:p>
                      <a:pPr algn="l"/>
                      <a:r>
                        <a:rPr sz="1600" b="0" i="0">
                          <a:solidFill>
                            <a:srgbClr val="F9FAFB"/>
                          </a:solidFill>
                          <a:latin typeface="Calibri"/>
                        </a:rPr>
                        <a:t>Unverifiable probabilistic text; unsuited for ASIL-D</a:t>
                      </a:r>
                    </a:p>
                  </a:txBody>
                  <a:tcPr/>
                </a:tc>
                <a:tc>
                  <a:txBody>
                    <a:bodyPr wrap="square" lIns="60000" rIns="60000" tIns="40000" bIns="40000"/>
                    <a:lstStyle/>
                    <a:p>
                      <a:pPr algn="l"/>
                      <a:r>
                        <a:rPr sz="1600" b="0" i="0">
                          <a:solidFill>
                            <a:srgbClr val="F9FAFB"/>
                          </a:solidFill>
                          <a:latin typeface="Calibri"/>
                        </a:rPr>
                        <a:t>Deterministic verification gates; ISO 26262 tool qualification support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 wrap="square" lIns="60000" rIns="60000" tIns="40000" bIns="40000"/>
                    <a:lstStyle/>
                    <a:p>
                      <a:pPr algn="l"/>
                      <a:r>
                        <a:rPr sz="1600" b="0" i="0">
                          <a:solidFill>
                            <a:srgbClr val="F9FAFB"/>
                          </a:solidFill>
                          <a:latin typeface="Calibri"/>
                        </a:rPr>
                        <a:t>Toolchain Integration</a:t>
                      </a:r>
                    </a:p>
                  </a:txBody>
                  <a:tcPr/>
                </a:tc>
                <a:tc>
                  <a:txBody>
                    <a:bodyPr wrap="square" lIns="60000" rIns="60000" tIns="40000" bIns="40000"/>
                    <a:lstStyle/>
                    <a:p>
                      <a:pPr algn="l"/>
                      <a:r>
                        <a:rPr sz="1600" b="0" i="0">
                          <a:solidFill>
                            <a:srgbClr val="F9FAFB"/>
                          </a:solidFill>
                          <a:latin typeface="Calibri"/>
                        </a:rPr>
                        <a:t>Copy-paste web browser interface; manual friction</a:t>
                      </a:r>
                    </a:p>
                  </a:txBody>
                  <a:tcPr/>
                </a:tc>
                <a:tc>
                  <a:txBody>
                    <a:bodyPr wrap="square" lIns="60000" rIns="60000" tIns="40000" bIns="40000"/>
                    <a:lstStyle/>
                    <a:p>
                      <a:pPr algn="l"/>
                      <a:r>
                        <a:rPr sz="1600" b="0" i="0">
                          <a:solidFill>
                            <a:srgbClr val="F9FAFB"/>
                          </a:solidFill>
                          <a:latin typeface="Calibri"/>
                        </a:rPr>
                        <a:t>Headless API connectors for DOORS, Simulink, CANoe, INCA, dSPACE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22960" y="548640"/>
            <a:ext cx="1054577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None/>
            </a:pPr>
            <a:r>
              <a:rPr sz="3000" b="1" i="0" u="none">
                <a:solidFill>
                  <a:srgbClr val="F9FAFB"/>
                </a:solidFill>
                <a:latin typeface="Calibri"/>
              </a:rPr>
              <a:t>What is AI in Deep Automotive Motor ECU Development? (cont.)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10545775" cy="12700"/>
          </a:xfrm>
          <a:prstGeom prst="rect">
            <a:avLst/>
          </a:prstGeom>
          <a:solidFill>
            <a:srgbClr val="3F4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97135" y="66294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None/>
            </a:pPr>
            <a:r>
              <a:rPr sz="1100" b="0" i="0" u="none">
                <a:solidFill>
                  <a:srgbClr val="9CA3A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None/>
            </a:pPr>
            <a:r>
              <a:rPr sz="3000" b="1" i="0" u="none">
                <a:solidFill>
                  <a:srgbClr val="F9FAFB"/>
                </a:solidFill>
                <a:latin typeface="Calibri"/>
              </a:rPr>
              <a:t>AI Across the Motor ECU V-Development Cycle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 u="none">
                <a:solidFill>
                  <a:srgbClr val="9CA3AF"/>
                </a:solidFill>
                <a:latin typeface="Calibri"/>
              </a:rPr>
              <a:t>Automating time-sink manual tasks from requirements decomposition down to dyno calibration while preserving full engineering control and safety integrity.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45920"/>
            <a:ext cx="10545775" cy="12700"/>
          </a:xfrm>
          <a:prstGeom prst="rect">
            <a:avLst/>
          </a:prstGeom>
          <a:solidFill>
            <a:srgbClr val="3F4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66294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None/>
            </a:pPr>
            <a:r>
              <a:rPr sz="1100" b="0" i="0" u="none">
                <a:solidFill>
                  <a:srgbClr val="9CA3A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5090007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1" i="0" u="none">
                <a:solidFill>
                  <a:srgbClr val="1D4ED8"/>
                </a:solidFill>
                <a:latin typeface="Calibri"/>
              </a:rPr>
              <a:t>🏛️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09800"/>
            <a:ext cx="5090007" cy="665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buNone/>
            </a:pPr>
            <a:r>
              <a:rPr sz="2000" b="1" i="0" u="none">
                <a:solidFill>
                  <a:srgbClr val="1D4ED8"/>
                </a:solidFill>
                <a:latin typeface="Calibri"/>
              </a:rPr>
              <a:t>Enterprise Air-Gap Deployment Mode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buNone/>
            </a:pPr>
            <a:r>
              <a:rPr sz="1600" b="0" i="0" u="none">
                <a:solidFill>
                  <a:srgbClr val="F9FAFB"/>
                </a:solidFill>
                <a:latin typeface="Calibri"/>
              </a:rPr>
              <a:t>Containerized microservices (Docker/Kubernetes) running locally with on-prem quantized model weights.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54577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None/>
            </a:pPr>
            <a:r>
              <a:rPr sz="3000" b="1" i="0" u="none">
                <a:solidFill>
                  <a:srgbClr val="F9FAFB"/>
                </a:solidFill>
                <a:latin typeface="Calibri"/>
              </a:rPr>
              <a:t>Absolute IP Protection &amp; Zero Data Leakage Guarantee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 u="none">
                <a:solidFill>
                  <a:srgbClr val="9CA3AF"/>
                </a:solidFill>
                <a:latin typeface="Calibri"/>
              </a:rPr>
              <a:t>Your motor topologies, inverter switching algorithms, and calibration datasets represent core IP. Our platform guarantees mathematical data isolation with zero cloud exposure.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10545775" cy="12700"/>
          </a:xfrm>
          <a:prstGeom prst="rect">
            <a:avLst/>
          </a:prstGeom>
          <a:solidFill>
            <a:srgbClr val="3F4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97135" y="66294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None/>
            </a:pPr>
            <a:r>
              <a:rPr sz="1100" b="0" i="0" u="none">
                <a:solidFill>
                  <a:srgbClr val="9CA3A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828800"/>
            <a:ext cx="2362123" cy="457200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3F4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057400"/>
            <a:ext cx="1904923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10" b="1" i="0" u="none">
                <a:solidFill>
                  <a:srgbClr val="1D4ED8"/>
                </a:solidFill>
                <a:latin typeface="Calibri"/>
              </a:rPr>
              <a:t>SERVICE 01</a:t>
            </a:r>
          </a:p>
          <a:p>
            <a:pPr algn="l">
              <a:spcAft>
                <a:spcPts val="600"/>
              </a:spcAft>
              <a:buNone/>
            </a:pPr>
            <a:r>
              <a:rPr sz="2000" b="1" i="0" u="none">
                <a:solidFill>
                  <a:srgbClr val="F9FAFB"/>
                </a:solidFill>
                <a:latin typeface="Calibri"/>
              </a:rPr>
              <a:t>V-Cycle Test &amp; HIL Automation Suite</a:t>
            </a:r>
          </a:p>
          <a:p>
            <a:pPr algn="l">
              <a:spcAft>
                <a:spcPts val="400"/>
              </a:spcAft>
              <a:buNone/>
            </a:pPr>
            <a:r>
              <a:rPr sz="1600" b="0" i="0" u="none">
                <a:solidFill>
                  <a:srgbClr val="F9FAFB"/>
                </a:solidFill>
                <a:latin typeface="Calibri"/>
              </a:rPr>
              <a:t>Turnkey integration with dSPACE, Vector CANoe, and TPT. Automated test authoring and 24/7 automated regression failure diagnosis.</a:t>
            </a:r>
            <a:r>
              <a:rPr sz="1600" b="0" i="0" u="none">
                <a:solidFill>
                  <a:srgbClr val="F9FAFB"/>
                </a:solidFill>
                <a:latin typeface="Calibri"/>
              </a:rPr>
              <a:t>
</a:t>
            </a:r>
            <a:r>
              <a:rPr sz="1600" b="1" i="0" u="none">
                <a:solidFill>
                  <a:srgbClr val="F9FAFB"/>
                </a:solidFill>
                <a:latin typeface="Calibri"/>
              </a:rPr>
              <a:t>▸ 60% Faster HIL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50843" y="1828800"/>
            <a:ext cx="2362123" cy="457200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3F4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79443" y="2057400"/>
            <a:ext cx="1904923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10" b="1" i="0" u="none">
                <a:solidFill>
                  <a:srgbClr val="1D4ED8"/>
                </a:solidFill>
                <a:latin typeface="Calibri"/>
              </a:rPr>
              <a:t>SERVICE 02</a:t>
            </a:r>
          </a:p>
          <a:p>
            <a:pPr algn="l">
              <a:spcAft>
                <a:spcPts val="600"/>
              </a:spcAft>
              <a:buNone/>
            </a:pPr>
            <a:r>
              <a:rPr sz="2000" b="1" i="0" u="none">
                <a:solidFill>
                  <a:srgbClr val="F9FAFB"/>
                </a:solidFill>
                <a:latin typeface="Calibri"/>
              </a:rPr>
              <a:t>Dyno Calibration Co-Pilot</a:t>
            </a:r>
          </a:p>
          <a:p>
            <a:pPr algn="l">
              <a:spcAft>
                <a:spcPts val="400"/>
              </a:spcAft>
              <a:buNone/>
            </a:pPr>
            <a:r>
              <a:rPr sz="1600" b="0" i="0" u="none">
                <a:solidFill>
                  <a:srgbClr val="F9FAFB"/>
                </a:solidFill>
                <a:latin typeface="Calibri"/>
              </a:rPr>
              <a:t>Deployment of Bayesian active-learning agents to optimize test bench schedules and auto-generate MTPA, MTPV, and thermal derating tables.</a:t>
            </a:r>
            <a:r>
              <a:rPr sz="1600" b="0" i="0" u="none">
                <a:solidFill>
                  <a:srgbClr val="F9FAFB"/>
                </a:solidFill>
                <a:latin typeface="Calibri"/>
              </a:rPr>
              <a:t>
</a:t>
            </a:r>
            <a:r>
              <a:rPr sz="1600" b="1" i="0" u="none">
                <a:solidFill>
                  <a:srgbClr val="F9FAFB"/>
                </a:solidFill>
                <a:latin typeface="Calibri"/>
              </a:rPr>
              <a:t>▸ 50% Dyno Hour Reduction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6" y="1828800"/>
            <a:ext cx="2362123" cy="457200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3F4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7326" y="2057400"/>
            <a:ext cx="1904923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10" b="1" i="0" u="none">
                <a:solidFill>
                  <a:srgbClr val="1D4ED8"/>
                </a:solidFill>
                <a:latin typeface="Calibri"/>
              </a:rPr>
              <a:t>SERVICE 03</a:t>
            </a:r>
          </a:p>
          <a:p>
            <a:pPr algn="l">
              <a:spcAft>
                <a:spcPts val="600"/>
              </a:spcAft>
              <a:buNone/>
            </a:pPr>
            <a:r>
              <a:rPr sz="2000" b="1" i="0" u="none">
                <a:solidFill>
                  <a:srgbClr val="F9FAFB"/>
                </a:solidFill>
                <a:latin typeface="Calibri"/>
              </a:rPr>
              <a:t>ASPICE &amp; Safety Compliance Accelerator</a:t>
            </a:r>
          </a:p>
          <a:p>
            <a:pPr algn="l">
              <a:spcAft>
                <a:spcPts val="400"/>
              </a:spcAft>
              <a:buNone/>
            </a:pPr>
            <a:r>
              <a:rPr sz="1600" b="0" i="0" u="none">
                <a:solidFill>
                  <a:srgbClr val="F9FAFB"/>
                </a:solidFill>
                <a:latin typeface="Calibri"/>
              </a:rPr>
              <a:t>End-to-end bidirectional traceability automation from DOORS requirements to test logs, plus automated MISRA-C static remediation.</a:t>
            </a:r>
            <a:r>
              <a:rPr sz="1600" b="0" i="0" u="none">
                <a:solidFill>
                  <a:srgbClr val="F9FAFB"/>
                </a:solidFill>
                <a:latin typeface="Calibri"/>
              </a:rPr>
              <a:t>
</a:t>
            </a:r>
            <a:r>
              <a:rPr sz="1600" b="1" i="0" u="none">
                <a:solidFill>
                  <a:srgbClr val="F9FAFB"/>
                </a:solidFill>
                <a:latin typeface="Calibri"/>
              </a:rPr>
              <a:t>▸ 100% Audit-Ready SWE.1-6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609" y="1828800"/>
            <a:ext cx="2362123" cy="457200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3F4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209" y="2057400"/>
            <a:ext cx="1904923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10" b="1" i="0" u="none">
                <a:solidFill>
                  <a:srgbClr val="1D4ED8"/>
                </a:solidFill>
                <a:latin typeface="Calibri"/>
              </a:rPr>
              <a:t>SERVICE 04</a:t>
            </a:r>
          </a:p>
          <a:p>
            <a:pPr algn="l">
              <a:spcAft>
                <a:spcPts val="600"/>
              </a:spcAft>
              <a:buNone/>
            </a:pPr>
            <a:r>
              <a:rPr sz="2000" b="1" i="0" u="none">
                <a:solidFill>
                  <a:srgbClr val="F9FAFB"/>
                </a:solidFill>
                <a:latin typeface="Calibri"/>
              </a:rPr>
              <a:t>Air-Gapped Sovereign Deployment</a:t>
            </a:r>
          </a:p>
          <a:p>
            <a:pPr algn="l">
              <a:spcAft>
                <a:spcPts val="400"/>
              </a:spcAft>
              <a:buNone/>
            </a:pPr>
            <a:r>
              <a:rPr sz="1600" b="0" i="0" u="none">
                <a:solidFill>
                  <a:srgbClr val="F9FAFB"/>
                </a:solidFill>
                <a:latin typeface="Calibri"/>
              </a:rPr>
              <a:t>On-premise hardware setup, fine-tuning domain models on your internal motor firmware conventions, and hands-on team enablement.</a:t>
            </a:r>
            <a:r>
              <a:rPr sz="1600" b="0" i="0" u="none">
                <a:solidFill>
                  <a:srgbClr val="F9FAFB"/>
                </a:solidFill>
                <a:latin typeface="Calibri"/>
              </a:rPr>
              <a:t>
</a:t>
            </a:r>
            <a:r>
              <a:rPr sz="1600" b="1" i="0" u="none">
                <a:solidFill>
                  <a:srgbClr val="F9FAFB"/>
                </a:solidFill>
                <a:latin typeface="Calibri"/>
              </a:rPr>
              <a:t>▸ Zero Security Compromise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8640"/>
            <a:ext cx="1054577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None/>
            </a:pPr>
            <a:r>
              <a:rPr sz="3000" b="1" i="0" u="none">
                <a:solidFill>
                  <a:srgbClr val="F9FAFB"/>
                </a:solidFill>
                <a:latin typeface="Calibri"/>
              </a:rPr>
              <a:t>Turnkey Services: Accelerate Your Motor ECU Programs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645920"/>
            <a:ext cx="10545775" cy="12700"/>
          </a:xfrm>
          <a:prstGeom prst="rect">
            <a:avLst/>
          </a:prstGeom>
          <a:solidFill>
            <a:srgbClr val="3F4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97135" y="66294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None/>
            </a:pPr>
            <a:r>
              <a:rPr sz="1100" b="0" i="0" u="none">
                <a:solidFill>
                  <a:srgbClr val="9CA3A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828800"/>
            <a:ext cx="5090007" cy="457200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3F4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057400"/>
            <a:ext cx="4632807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000" b="1" i="0" u="none">
                <a:solidFill>
                  <a:srgbClr val="F9FAFB"/>
                </a:solidFill>
                <a:latin typeface="Calibri"/>
              </a:rPr>
              <a:t>Phase 1: 4-Week Rapid Proof of Concept (PoC)</a:t>
            </a:r>
          </a:p>
          <a:p>
            <a:pPr algn="l">
              <a:spcAft>
                <a:spcPts val="400"/>
              </a:spcAft>
              <a:buNone/>
            </a:pPr>
            <a:r>
              <a:rPr sz="1600" b="0" i="0" u="none">
                <a:solidFill>
                  <a:srgbClr val="F9FAFB"/>
                </a:solidFill>
                <a:latin typeface="Calibri"/>
              </a:rPr>
              <a:t>Select one high-friction subsystem (e.g., FOC fault-injection test synthesis or dyno MTPA calibration). We demonstrate 50%+ time savings on your data with zero air-gap risk.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78727" y="1828800"/>
            <a:ext cx="5090007" cy="457200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3F4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07327" y="2057400"/>
            <a:ext cx="4632807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000" b="1" i="0" u="none">
                <a:solidFill>
                  <a:srgbClr val="F9FAFB"/>
                </a:solidFill>
                <a:latin typeface="Calibri"/>
              </a:rPr>
              <a:t>Phase 2: 12-Week Production Pilot &amp; Toolchain Rollout</a:t>
            </a:r>
          </a:p>
          <a:p>
            <a:pPr algn="l">
              <a:spcAft>
                <a:spcPts val="400"/>
              </a:spcAft>
              <a:buNone/>
            </a:pPr>
            <a:r>
              <a:rPr sz="1600" b="0" i="0" u="none">
                <a:solidFill>
                  <a:srgbClr val="F9FAFB"/>
                </a:solidFill>
                <a:latin typeface="Calibri"/>
              </a:rPr>
              <a:t>Full on-prem deployment integrated into your CI/CD, dSPACE/Vector HIL benches, and DOORS database. Comprehensive training for your motor control engineers.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"/>
            <a:ext cx="1054577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None/>
            </a:pPr>
            <a:r>
              <a:rPr sz="3000" b="1" i="0" u="none">
                <a:solidFill>
                  <a:srgbClr val="F9FAFB"/>
                </a:solidFill>
                <a:latin typeface="Calibri"/>
              </a:rPr>
              <a:t>Turnkey Services: Accelerate Your Motor ECU Programs (cont.)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10545775" cy="12700"/>
          </a:xfrm>
          <a:prstGeom prst="rect">
            <a:avLst/>
          </a:prstGeom>
          <a:solidFill>
            <a:srgbClr val="3F4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97135" y="66294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None/>
            </a:pPr>
            <a:r>
              <a:rPr sz="1100" b="0" i="0" u="none">
                <a:solidFill>
                  <a:srgbClr val="9CA3A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